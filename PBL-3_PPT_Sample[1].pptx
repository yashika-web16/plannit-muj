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8" r:id="rId6"/>
    <p:sldId id="269" r:id="rId7"/>
    <p:sldId id="260" r:id="rId8"/>
    <p:sldId id="270" r:id="rId9"/>
    <p:sldId id="262" r:id="rId10"/>
    <p:sldId id="261" r:id="rId11"/>
    <p:sldId id="266" r:id="rId12"/>
    <p:sldId id="271" r:id="rId13"/>
    <p:sldId id="267" r:id="rId14"/>
    <p:sldId id="272" r:id="rId15"/>
    <p:sldId id="273" r:id="rId16"/>
    <p:sldId id="274" r:id="rId17"/>
    <p:sldId id="275" r:id="rId18"/>
    <p:sldId id="276" r:id="rId19"/>
    <p:sldId id="263" r:id="rId20"/>
    <p:sldId id="26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9" d="100"/>
          <a:sy n="69" d="100"/>
        </p:scale>
        <p:origin x="54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908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037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79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884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4162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11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3283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892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1760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056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39555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2230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6576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47935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37641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1101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735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315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.dev/" TargetMode="External"/><Relationship Id="rId2" Type="http://schemas.openxmlformats.org/officeDocument/2006/relationships/hyperlink" Target="https://supabase.com/doc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tailwindcss.com/docs" TargetMode="External"/><Relationship Id="rId4" Type="http://schemas.openxmlformats.org/officeDocument/2006/relationships/hyperlink" Target="https://vercel.com/docs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824" y="2934586"/>
            <a:ext cx="9790176" cy="978194"/>
          </a:xfrm>
        </p:spPr>
        <p:txBody>
          <a:bodyPr>
            <a:normAutofit fontScale="90000"/>
          </a:bodyPr>
          <a:lstStyle/>
          <a:p>
            <a:r>
              <a:rPr lang="en-US" dirty="0"/>
              <a:t>P</a:t>
            </a:r>
            <a:r>
              <a:rPr lang="en-IN" dirty="0"/>
              <a:t>LANiT-MUJ </a:t>
            </a:r>
            <a:r>
              <a:rPr lang="en-IN" sz="3200" dirty="0"/>
              <a:t>EVENT MANAGEMENT WEBSITE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411" y="4890977"/>
            <a:ext cx="3239387" cy="1222744"/>
          </a:xfrm>
        </p:spPr>
        <p:txBody>
          <a:bodyPr/>
          <a:lstStyle/>
          <a:p>
            <a:r>
              <a:rPr lang="en-IN" dirty="0"/>
              <a:t>Submitted By:</a:t>
            </a:r>
            <a:br>
              <a:rPr lang="en-IN" dirty="0"/>
            </a:br>
            <a:r>
              <a:rPr lang="en-IN" dirty="0"/>
              <a:t>YASHIKA NAGDEV</a:t>
            </a:r>
          </a:p>
          <a:p>
            <a:r>
              <a:rPr lang="en-IN" dirty="0"/>
              <a:t>23FE10CSE00213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7875203" y="4883885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Supervised By:</a:t>
            </a:r>
            <a:br>
              <a:rPr lang="en-IN" b="1" dirty="0"/>
            </a:br>
            <a:r>
              <a:rPr lang="en-IN" b="1" dirty="0" err="1"/>
              <a:t>Dr.Rajat</a:t>
            </a:r>
            <a:r>
              <a:rPr lang="en-IN" b="1" dirty="0"/>
              <a:t> Goel</a:t>
            </a:r>
          </a:p>
          <a:p>
            <a:endParaRPr lang="en-IN" dirty="0"/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788" y="438375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7542" y="1258784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1AEC-0C6A-CF04-A6F2-DE042625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A8CF-2937-6FE2-6F8A-377D2DF1D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Problem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Proposed Solution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Objectives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Results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21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A96B-B72E-0C72-F61B-C99183D10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1CBD1-1236-BD10-F9B4-E2675BA38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PlanIt</a:t>
            </a:r>
            <a:r>
              <a:rPr lang="en-US" b="1" dirty="0"/>
              <a:t>-MUJ</a:t>
            </a:r>
            <a:r>
              <a:rPr lang="en-US" dirty="0"/>
              <a:t> is a web-based event and venue management platform created for students and organizers of </a:t>
            </a:r>
            <a:r>
              <a:rPr lang="en-US" b="1" dirty="0"/>
              <a:t>Manipal University Jaipur (MUJ)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allows students to explore events, register instantly, view venues, track participation, and manage their dashboard.</a:t>
            </a:r>
            <a:br>
              <a:rPr lang="en-US" dirty="0"/>
            </a:br>
            <a:r>
              <a:rPr lang="en-US" dirty="0"/>
              <a:t>Organizers can add events, view registrations, and analyze student engagement.</a:t>
            </a:r>
          </a:p>
          <a:p>
            <a:r>
              <a:rPr lang="en-US" dirty="0"/>
              <a:t>The system provides a </a:t>
            </a:r>
            <a:r>
              <a:rPr lang="en-US" b="1" dirty="0"/>
              <a:t>centralized digital platform</a:t>
            </a:r>
            <a:r>
              <a:rPr lang="en-US" dirty="0"/>
              <a:t> replacing scattered WhatsApp forms, manual registrations, and unclear venue allocations.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897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647D-9B85-4135-FDC8-4412998CA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AB276A-0316-BE54-9C11-D8F395DA3B80}"/>
              </a:ext>
            </a:extLst>
          </p:cNvPr>
          <p:cNvSpPr txBox="1"/>
          <p:nvPr/>
        </p:nvSpPr>
        <p:spPr>
          <a:xfrm>
            <a:off x="203200" y="2068945"/>
            <a:ext cx="1171170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Event management systems have evolved significantly over the last decade as universities and organizations shifted towards </a:t>
            </a:r>
            <a:r>
              <a:rPr lang="en-US" b="1" dirty="0"/>
              <a:t>digital-first administration models</a:t>
            </a:r>
            <a:r>
              <a:rPr lang="en-US" dirty="0"/>
              <a:t>. Modern institutions require platforms that allow students to discover events, track registrations, view announcements, and stay engaged through centralized dashboards.</a:t>
            </a:r>
          </a:p>
          <a:p>
            <a:r>
              <a:rPr lang="en-US" dirty="0"/>
              <a:t>Several existing systems illustrate these trends:</a:t>
            </a:r>
          </a:p>
          <a:p>
            <a:r>
              <a:rPr lang="en-US" b="1" dirty="0"/>
              <a:t>1. University ERP Platforms (e.g., TCS </a:t>
            </a:r>
            <a:r>
              <a:rPr lang="en-US" b="1" dirty="0" err="1"/>
              <a:t>iON</a:t>
            </a:r>
            <a:r>
              <a:rPr lang="en-US" b="1" dirty="0"/>
              <a:t>, PeopleSoft Campus Solutions)</a:t>
            </a:r>
          </a:p>
          <a:p>
            <a:r>
              <a:rPr lang="en-US" dirty="0"/>
              <a:t>Most university ERPs provide basic event posting and communication features. However, they are often:</a:t>
            </a:r>
          </a:p>
          <a:p>
            <a:r>
              <a:rPr lang="en-US" b="1" dirty="0"/>
              <a:t>Not student-friendly</a:t>
            </a:r>
            <a:endParaRPr lang="en-US" dirty="0"/>
          </a:p>
          <a:p>
            <a:r>
              <a:rPr lang="en-US" b="1" dirty="0"/>
              <a:t>Difficult for departments to update quickly</a:t>
            </a:r>
            <a:endParaRPr lang="en-US" dirty="0"/>
          </a:p>
          <a:p>
            <a:r>
              <a:rPr lang="en-US" b="1" dirty="0"/>
              <a:t>Not optimized for mobile use</a:t>
            </a:r>
            <a:endParaRPr lang="en-US" dirty="0"/>
          </a:p>
          <a:p>
            <a:r>
              <a:rPr lang="en-US" dirty="0"/>
              <a:t>This creates a gap for more specialized event portals.</a:t>
            </a:r>
          </a:p>
          <a:p>
            <a:r>
              <a:rPr lang="en-US" b="1" dirty="0"/>
              <a:t>2. Online Event Platforms (Eventbrite, </a:t>
            </a:r>
            <a:r>
              <a:rPr lang="en-US" b="1" dirty="0" err="1"/>
              <a:t>Townscript</a:t>
            </a:r>
            <a:r>
              <a:rPr lang="en-US" b="1" dirty="0"/>
              <a:t>, </a:t>
            </a:r>
            <a:r>
              <a:rPr lang="en-US" b="1" dirty="0" err="1"/>
              <a:t>Allevents</a:t>
            </a:r>
            <a:r>
              <a:rPr lang="en-US" b="1" dirty="0"/>
              <a:t>)</a:t>
            </a:r>
          </a:p>
          <a:p>
            <a:r>
              <a:rPr lang="en-US" dirty="0"/>
              <a:t>These platforms allow:</a:t>
            </a:r>
          </a:p>
          <a:p>
            <a:r>
              <a:rPr lang="en-US" dirty="0"/>
              <a:t>Registration management</a:t>
            </a:r>
          </a:p>
          <a:p>
            <a:r>
              <a:rPr lang="en-US" dirty="0"/>
              <a:t>Event discovery</a:t>
            </a:r>
          </a:p>
          <a:p>
            <a:r>
              <a:rPr lang="en-US" dirty="0"/>
              <a:t>Notifications &amp; reminders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0308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8BB415-3936-AE32-C09F-27101E8DF230}"/>
              </a:ext>
            </a:extLst>
          </p:cNvPr>
          <p:cNvSpPr txBox="1"/>
          <p:nvPr/>
        </p:nvSpPr>
        <p:spPr>
          <a:xfrm>
            <a:off x="138546" y="133927"/>
            <a:ext cx="11914910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But they </a:t>
            </a:r>
            <a:r>
              <a:rPr lang="en-US" b="1" dirty="0"/>
              <a:t>do not provide university-specific features</a:t>
            </a:r>
            <a:r>
              <a:rPr lang="en-US" dirty="0"/>
              <a:t>, such as:</a:t>
            </a:r>
          </a:p>
          <a:p>
            <a:r>
              <a:rPr lang="en-US" dirty="0"/>
              <a:t>Academic departments</a:t>
            </a:r>
          </a:p>
          <a:p>
            <a:r>
              <a:rPr lang="en-US" dirty="0"/>
              <a:t>Student year categorization</a:t>
            </a:r>
          </a:p>
          <a:p>
            <a:r>
              <a:rPr lang="en-US" dirty="0"/>
              <a:t>Campus venue management</a:t>
            </a:r>
          </a:p>
          <a:p>
            <a:r>
              <a:rPr lang="en-US" dirty="0"/>
              <a:t>Internal student dashboards</a:t>
            </a:r>
          </a:p>
          <a:p>
            <a:r>
              <a:rPr lang="en-US" dirty="0"/>
              <a:t>Hence, they cannot replace a dedicated campus system.</a:t>
            </a:r>
          </a:p>
          <a:p>
            <a:r>
              <a:rPr lang="en-US" b="1" dirty="0"/>
              <a:t>3. College-Level Event Portals from Other Universities</a:t>
            </a:r>
          </a:p>
          <a:p>
            <a:r>
              <a:rPr lang="en-US" dirty="0"/>
              <a:t>Many colleges build internal portals for:</a:t>
            </a:r>
          </a:p>
          <a:p>
            <a:r>
              <a:rPr lang="en-US" dirty="0"/>
              <a:t>Technical fests</a:t>
            </a:r>
          </a:p>
          <a:p>
            <a:r>
              <a:rPr lang="en-US" dirty="0"/>
              <a:t>Cultural festivals</a:t>
            </a:r>
          </a:p>
          <a:p>
            <a:r>
              <a:rPr lang="en-US" dirty="0"/>
              <a:t>Hackathons</a:t>
            </a:r>
          </a:p>
          <a:p>
            <a:r>
              <a:rPr lang="en-US" dirty="0"/>
              <a:t>However, these systems are usually:</a:t>
            </a:r>
          </a:p>
          <a:p>
            <a:r>
              <a:rPr lang="en-US" dirty="0"/>
              <a:t>Event-specific (e.g., only for a fest)</a:t>
            </a:r>
          </a:p>
          <a:p>
            <a:r>
              <a:rPr lang="en-US" dirty="0"/>
              <a:t>Temporary (used for 1–2 weeks)</a:t>
            </a:r>
          </a:p>
          <a:p>
            <a:r>
              <a:rPr lang="en-US" dirty="0"/>
              <a:t>Lacking a </a:t>
            </a:r>
            <a:r>
              <a:rPr lang="en-US" b="1" dirty="0"/>
              <a:t>permanent student profile</a:t>
            </a:r>
            <a:r>
              <a:rPr lang="en-US" dirty="0"/>
              <a:t> or </a:t>
            </a:r>
            <a:r>
              <a:rPr lang="en-US" b="1" dirty="0"/>
              <a:t>leaderboard system</a:t>
            </a:r>
            <a:endParaRPr lang="en-US" dirty="0"/>
          </a:p>
          <a:p>
            <a:r>
              <a:rPr lang="en-US" dirty="0"/>
              <a:t> </a:t>
            </a:r>
            <a:r>
              <a:rPr lang="en-US" b="1" dirty="0" err="1"/>
              <a:t>PlanIt</a:t>
            </a:r>
            <a:r>
              <a:rPr lang="en-US" b="1" dirty="0"/>
              <a:t>-MUJ</a:t>
            </a:r>
            <a:r>
              <a:rPr lang="en-US" dirty="0"/>
              <a:t> is superior because it is </a:t>
            </a:r>
            <a:r>
              <a:rPr lang="en-US" b="1" dirty="0"/>
              <a:t>permanent, reusable, and centralized</a:t>
            </a:r>
            <a:r>
              <a:rPr lang="en-US" dirty="0"/>
              <a:t>.</a:t>
            </a:r>
          </a:p>
          <a:p>
            <a:r>
              <a:rPr lang="en-US" b="1" dirty="0"/>
              <a:t>4. Mobile Apps for Student Communities</a:t>
            </a:r>
          </a:p>
          <a:p>
            <a:r>
              <a:rPr lang="en-US" dirty="0"/>
              <a:t>Some universities use:</a:t>
            </a:r>
          </a:p>
          <a:p>
            <a:r>
              <a:rPr lang="en-US" dirty="0"/>
              <a:t>Student community apps</a:t>
            </a:r>
          </a:p>
          <a:p>
            <a:r>
              <a:rPr lang="en-US" dirty="0"/>
              <a:t>WhatsApp groups</a:t>
            </a:r>
          </a:p>
          <a:p>
            <a:r>
              <a:rPr lang="en-US" dirty="0"/>
              <a:t>Google Forms</a:t>
            </a:r>
          </a:p>
          <a:p>
            <a:r>
              <a:rPr lang="en-US" dirty="0"/>
              <a:t>These systems fail when:</a:t>
            </a:r>
          </a:p>
          <a:p>
            <a:r>
              <a:rPr lang="en-US" dirty="0"/>
              <a:t>The number of events grows</a:t>
            </a:r>
          </a:p>
          <a:p>
            <a:r>
              <a:rPr lang="en-US" dirty="0"/>
              <a:t>Data needs to be secure</a:t>
            </a:r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7931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B7E7FF-81C0-21ED-066D-AD6864648FD8}"/>
              </a:ext>
            </a:extLst>
          </p:cNvPr>
          <p:cNvSpPr txBox="1"/>
          <p:nvPr/>
        </p:nvSpPr>
        <p:spPr>
          <a:xfrm>
            <a:off x="157018" y="304800"/>
            <a:ext cx="11924146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Students want a consistent dashboard</a:t>
            </a:r>
          </a:p>
          <a:p>
            <a:r>
              <a:rPr lang="en-US" dirty="0"/>
              <a:t>Admins need automated attendee tracking</a:t>
            </a:r>
          </a:p>
          <a:p>
            <a:r>
              <a:rPr lang="en-US" dirty="0"/>
              <a:t>This strengthens the need for an integrated </a:t>
            </a:r>
            <a:r>
              <a:rPr lang="en-US" b="1" dirty="0"/>
              <a:t>web portal</a:t>
            </a:r>
            <a:r>
              <a:rPr lang="en-US" dirty="0"/>
              <a:t>.</a:t>
            </a:r>
          </a:p>
          <a:p>
            <a:br>
              <a:rPr lang="en-US" dirty="0"/>
            </a:br>
            <a:r>
              <a:rPr lang="en-US" b="1" dirty="0"/>
              <a:t>🧠 Conclusion of Literature Review</a:t>
            </a:r>
          </a:p>
          <a:p>
            <a:endParaRPr lang="en-US" b="1" dirty="0"/>
          </a:p>
          <a:p>
            <a:r>
              <a:rPr lang="en-US" dirty="0"/>
              <a:t>From analyzing existing systems, it is clear that:</a:t>
            </a:r>
          </a:p>
          <a:p>
            <a:r>
              <a:rPr lang="en-US" dirty="0"/>
              <a:t>✔ No existing platform provides </a:t>
            </a:r>
            <a:r>
              <a:rPr lang="en-US" b="1" dirty="0"/>
              <a:t>all-in-one event discovery, registration, venue browsing, student dashboard, and leaderboard tracking</a:t>
            </a:r>
            <a:r>
              <a:rPr lang="en-US" dirty="0"/>
              <a:t> specifically designed for </a:t>
            </a:r>
            <a:r>
              <a:rPr lang="en-US" b="1" dirty="0"/>
              <a:t>Manipal University Jaipur (MUJ)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✔ Existing tools either lack personalization, campus-specific features, or real-time administrative control.</a:t>
            </a:r>
            <a:br>
              <a:rPr lang="en-US" dirty="0"/>
            </a:br>
            <a:r>
              <a:rPr lang="en-US" dirty="0"/>
              <a:t>✔ There is a growing need for a platform that improves student engagement and eliminates manual registration processes.</a:t>
            </a:r>
          </a:p>
          <a:p>
            <a:endParaRPr lang="en-US" dirty="0"/>
          </a:p>
          <a:p>
            <a:r>
              <a:rPr lang="en-US" dirty="0"/>
              <a:t>My project </a:t>
            </a:r>
            <a:r>
              <a:rPr lang="en-US" b="1" dirty="0" err="1"/>
              <a:t>PlanIt</a:t>
            </a:r>
            <a:r>
              <a:rPr lang="en-US" b="1" dirty="0"/>
              <a:t>-MUJ</a:t>
            </a:r>
            <a:r>
              <a:rPr lang="en-US" dirty="0"/>
              <a:t> bridges this gap by combining:</a:t>
            </a:r>
          </a:p>
          <a:p>
            <a:endParaRPr lang="en-US" dirty="0"/>
          </a:p>
          <a:p>
            <a:r>
              <a:rPr lang="en-US" dirty="0"/>
              <a:t>Student authentication</a:t>
            </a:r>
          </a:p>
          <a:p>
            <a:r>
              <a:rPr lang="en-US" dirty="0"/>
              <a:t>Event discovery</a:t>
            </a:r>
          </a:p>
          <a:p>
            <a:r>
              <a:rPr lang="en-US" dirty="0"/>
              <a:t>Venue lists</a:t>
            </a:r>
          </a:p>
          <a:p>
            <a:r>
              <a:rPr lang="en-US" dirty="0"/>
              <a:t>Registration history</a:t>
            </a:r>
          </a:p>
          <a:p>
            <a:r>
              <a:rPr lang="en-US" dirty="0"/>
              <a:t>Leaderboard (points system)</a:t>
            </a:r>
          </a:p>
          <a:p>
            <a:r>
              <a:rPr lang="en-US" dirty="0"/>
              <a:t>Dynamic dashboards</a:t>
            </a:r>
          </a:p>
          <a:p>
            <a:r>
              <a:rPr lang="en-US" dirty="0"/>
              <a:t>into a seamless and modern interface.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8959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1533-4BE1-DF5E-D485-BD167C2B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4CC5-00AF-876C-F7CA-146754384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073" y="2475345"/>
            <a:ext cx="11351491" cy="415636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i="1" u="sng" dirty="0"/>
              <a:t>MUJ students face:</a:t>
            </a:r>
          </a:p>
          <a:p>
            <a:r>
              <a:rPr lang="en-US" dirty="0"/>
              <a:t>No single platform for all events</a:t>
            </a:r>
          </a:p>
          <a:p>
            <a:r>
              <a:rPr lang="en-US" dirty="0"/>
              <a:t>Difficulty finding event details</a:t>
            </a:r>
          </a:p>
          <a:p>
            <a:r>
              <a:rPr lang="en-US" dirty="0"/>
              <a:t>Manual Google Forms → slow &amp; confusing</a:t>
            </a:r>
          </a:p>
          <a:p>
            <a:r>
              <a:rPr lang="en-US" dirty="0"/>
              <a:t>No venue transparency</a:t>
            </a:r>
          </a:p>
          <a:p>
            <a:r>
              <a:rPr lang="en-US" dirty="0"/>
              <a:t>No student dashboard to track participation</a:t>
            </a:r>
          </a:p>
          <a:p>
            <a:r>
              <a:rPr lang="en-US" dirty="0"/>
              <a:t>Limited organizer tools</a:t>
            </a:r>
          </a:p>
          <a:p>
            <a:pPr marL="0" indent="0">
              <a:buNone/>
            </a:pPr>
            <a:r>
              <a:rPr lang="en-US" b="1" i="1" u="sng" dirty="0"/>
              <a:t>Organizers struggle with:</a:t>
            </a:r>
          </a:p>
          <a:p>
            <a:r>
              <a:rPr lang="en-US" dirty="0"/>
              <a:t>Managing registrations</a:t>
            </a:r>
          </a:p>
          <a:p>
            <a:r>
              <a:rPr lang="en-US" dirty="0"/>
              <a:t>Venue allocation</a:t>
            </a:r>
          </a:p>
          <a:p>
            <a:r>
              <a:rPr lang="en-US" dirty="0"/>
              <a:t>Communicating event changes</a:t>
            </a:r>
          </a:p>
          <a:p>
            <a:r>
              <a:rPr lang="en-US" dirty="0"/>
              <a:t>Maintaining databases</a:t>
            </a:r>
          </a:p>
          <a:p>
            <a:r>
              <a:rPr lang="en-US" b="1" dirty="0"/>
              <a:t>Hence, a unified, modern platform was required.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4707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C9EFC-0284-CB6D-A2A1-1C0D987E4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8EA0A-53F1-12EC-CED4-D477545DA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727" y="2096655"/>
            <a:ext cx="11342255" cy="460894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200" b="1" i="1" u="sng" dirty="0"/>
              <a:t>Development of </a:t>
            </a:r>
            <a:r>
              <a:rPr lang="en-IN" sz="1200" b="1" i="1" u="sng" dirty="0" err="1"/>
              <a:t>PlanIt</a:t>
            </a:r>
            <a:r>
              <a:rPr lang="en-IN" sz="1200" b="1" i="1" u="sng" dirty="0"/>
              <a:t>-MUJ, a full-stack event management website offering:</a:t>
            </a:r>
          </a:p>
          <a:p>
            <a:r>
              <a:rPr lang="en-IN" sz="1200" b="1" dirty="0"/>
              <a:t>Student Features</a:t>
            </a:r>
          </a:p>
          <a:p>
            <a:r>
              <a:rPr lang="en-IN" sz="1200" dirty="0"/>
              <a:t>Register &amp; Login (</a:t>
            </a:r>
            <a:r>
              <a:rPr lang="en-IN" sz="1200" dirty="0" err="1"/>
              <a:t>Supabase</a:t>
            </a:r>
            <a:r>
              <a:rPr lang="en-IN" sz="1200" dirty="0"/>
              <a:t> Auth)</a:t>
            </a:r>
          </a:p>
          <a:p>
            <a:r>
              <a:rPr lang="en-IN" sz="1200" dirty="0"/>
              <a:t>Browse upcoming events</a:t>
            </a:r>
          </a:p>
          <a:p>
            <a:r>
              <a:rPr lang="en-IN" sz="1200" dirty="0"/>
              <a:t>Explore MUJ venues + details</a:t>
            </a:r>
          </a:p>
          <a:p>
            <a:r>
              <a:rPr lang="en-IN" sz="1200" dirty="0"/>
              <a:t>Apply for events</a:t>
            </a:r>
          </a:p>
          <a:p>
            <a:r>
              <a:rPr lang="en-IN" sz="1200" dirty="0"/>
              <a:t>Personal dashboard (registrations, points, profile)</a:t>
            </a:r>
          </a:p>
          <a:p>
            <a:pPr marL="0" indent="0">
              <a:buNone/>
            </a:pPr>
            <a:r>
              <a:rPr lang="en-IN" sz="1200" b="1" dirty="0"/>
              <a:t>Organizer Features (later scope)</a:t>
            </a:r>
          </a:p>
          <a:p>
            <a:r>
              <a:rPr lang="en-IN" sz="1200" dirty="0"/>
              <a:t>Create &amp; modify events</a:t>
            </a:r>
          </a:p>
          <a:p>
            <a:r>
              <a:rPr lang="en-IN" sz="1200" dirty="0" err="1"/>
              <a:t>Analyze</a:t>
            </a:r>
            <a:r>
              <a:rPr lang="en-IN" sz="1200" dirty="0"/>
              <a:t> registrations</a:t>
            </a:r>
          </a:p>
          <a:p>
            <a:r>
              <a:rPr lang="en-IN" sz="1200" dirty="0"/>
              <a:t>Manage venues &amp; timings</a:t>
            </a:r>
          </a:p>
          <a:p>
            <a:pPr marL="0" indent="0">
              <a:buNone/>
            </a:pPr>
            <a:r>
              <a:rPr lang="en-IN" sz="1200" b="1" dirty="0"/>
              <a:t>Technical Features</a:t>
            </a:r>
          </a:p>
          <a:p>
            <a:r>
              <a:rPr lang="en-IN" sz="1200" dirty="0"/>
              <a:t>Real-time database (</a:t>
            </a:r>
            <a:r>
              <a:rPr lang="en-IN" sz="1200" dirty="0" err="1"/>
              <a:t>Supabase</a:t>
            </a:r>
            <a:r>
              <a:rPr lang="en-IN" sz="1200" dirty="0"/>
              <a:t>)</a:t>
            </a:r>
          </a:p>
          <a:p>
            <a:r>
              <a:rPr lang="en-IN" sz="1200" dirty="0"/>
              <a:t>Secure authentication</a:t>
            </a:r>
          </a:p>
          <a:p>
            <a:r>
              <a:rPr lang="en-IN" sz="1200" dirty="0"/>
              <a:t>Responsive UI with React + Tailwind</a:t>
            </a:r>
          </a:p>
          <a:p>
            <a:r>
              <a:rPr lang="en-IN" sz="1200" dirty="0"/>
              <a:t>Deployed version for easy access</a:t>
            </a:r>
          </a:p>
          <a:p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3598878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E25AA-71BA-D0F6-3993-32491BD06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109" y="2410691"/>
            <a:ext cx="11028217" cy="4239491"/>
          </a:xfrm>
        </p:spPr>
        <p:txBody>
          <a:bodyPr>
            <a:normAutofit/>
          </a:bodyPr>
          <a:lstStyle/>
          <a:p>
            <a:r>
              <a:rPr lang="en-IN" b="1" dirty="0"/>
              <a:t>Primary Objectives</a:t>
            </a:r>
          </a:p>
          <a:p>
            <a:pPr marL="0" indent="0">
              <a:buNone/>
            </a:pPr>
            <a:r>
              <a:rPr lang="en-IN" dirty="0"/>
              <a:t>✅ Build a centralized platform for MUJ events</a:t>
            </a:r>
            <a:br>
              <a:rPr lang="en-IN" dirty="0"/>
            </a:br>
            <a:r>
              <a:rPr lang="en-IN" dirty="0"/>
              <a:t>✅ Enable students to register easily</a:t>
            </a:r>
            <a:br>
              <a:rPr lang="en-IN" dirty="0"/>
            </a:br>
            <a:r>
              <a:rPr lang="en-IN" dirty="0"/>
              <a:t>✅ Provide detailed venue information</a:t>
            </a:r>
            <a:br>
              <a:rPr lang="en-IN" dirty="0"/>
            </a:br>
            <a:r>
              <a:rPr lang="en-IN" dirty="0"/>
              <a:t>✅ Create a modern dashboard for students</a:t>
            </a:r>
            <a:br>
              <a:rPr lang="en-IN" dirty="0"/>
            </a:br>
            <a:r>
              <a:rPr lang="en-IN" dirty="0"/>
              <a:t>✅ Use secure authentication (</a:t>
            </a:r>
            <a:r>
              <a:rPr lang="en-IN" dirty="0" err="1"/>
              <a:t>Supabase</a:t>
            </a:r>
            <a:r>
              <a:rPr lang="en-IN" dirty="0"/>
              <a:t> Auth)</a:t>
            </a:r>
            <a:br>
              <a:rPr lang="en-IN" dirty="0"/>
            </a:br>
            <a:r>
              <a:rPr lang="en-IN" dirty="0"/>
              <a:t>✅ Store registrations in </a:t>
            </a:r>
            <a:r>
              <a:rPr lang="en-IN" dirty="0" err="1"/>
              <a:t>Supabase</a:t>
            </a:r>
            <a:r>
              <a:rPr lang="en-IN" dirty="0"/>
              <a:t> DB</a:t>
            </a:r>
          </a:p>
          <a:p>
            <a:r>
              <a:rPr lang="en-IN" b="1" dirty="0"/>
              <a:t>Secondary Objectives</a:t>
            </a:r>
          </a:p>
          <a:p>
            <a:pPr marL="0" indent="0">
              <a:buNone/>
            </a:pPr>
            <a:r>
              <a:rPr lang="en-IN" dirty="0"/>
              <a:t>☑ Improve student-organizer communication</a:t>
            </a:r>
            <a:br>
              <a:rPr lang="en-IN" dirty="0"/>
            </a:br>
            <a:r>
              <a:rPr lang="en-IN" dirty="0"/>
              <a:t>☑ Reduce manual work for faculty/organizers</a:t>
            </a:r>
            <a:br>
              <a:rPr lang="en-IN" dirty="0"/>
            </a:br>
            <a:r>
              <a:rPr lang="en-IN" dirty="0"/>
              <a:t>☑ Build scalable architecture for future additions (payments, admin panel, e-certificates)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7097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7EF98-E6AD-70D5-2BE9-3A859F15D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0845" y="2364509"/>
            <a:ext cx="5319737" cy="449349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[User Registration]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[Login &amp; Auth]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[Event &amp; Venue Browsing]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[Student Dashboard]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[Event Registration]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[</a:t>
            </a:r>
            <a:r>
              <a:rPr lang="en-IN" dirty="0" err="1"/>
              <a:t>Supabase</a:t>
            </a:r>
            <a:r>
              <a:rPr lang="en-IN" dirty="0"/>
              <a:t> Database Storage]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[Points Update &amp; Leaderboard]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[Final Output to User]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7724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C9FAE-C685-2942-D3D4-216A6AC1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B33A6-B209-82E0-3AC4-ED0F2117C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A244ED6-EFEF-7CD2-0D58-E1A8C45B19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0474216"/>
              </p:ext>
            </p:extLst>
          </p:nvPr>
        </p:nvGraphicFramePr>
        <p:xfrm>
          <a:off x="1182255" y="2665729"/>
          <a:ext cx="9929090" cy="380896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486168">
                  <a:extLst>
                    <a:ext uri="{9D8B030D-6E8A-4147-A177-3AD203B41FA5}">
                      <a16:colId xmlns:a16="http://schemas.microsoft.com/office/drawing/2014/main" val="1944505029"/>
                    </a:ext>
                  </a:extLst>
                </a:gridCol>
                <a:gridCol w="2538413">
                  <a:extLst>
                    <a:ext uri="{9D8B030D-6E8A-4147-A177-3AD203B41FA5}">
                      <a16:colId xmlns:a16="http://schemas.microsoft.com/office/drawing/2014/main" val="892926564"/>
                    </a:ext>
                  </a:extLst>
                </a:gridCol>
                <a:gridCol w="2423535">
                  <a:extLst>
                    <a:ext uri="{9D8B030D-6E8A-4147-A177-3AD203B41FA5}">
                      <a16:colId xmlns:a16="http://schemas.microsoft.com/office/drawing/2014/main" val="38922014"/>
                    </a:ext>
                  </a:extLst>
                </a:gridCol>
                <a:gridCol w="2480974">
                  <a:extLst>
                    <a:ext uri="{9D8B030D-6E8A-4147-A177-3AD203B41FA5}">
                      <a16:colId xmlns:a16="http://schemas.microsoft.com/office/drawing/2014/main" val="1072237076"/>
                    </a:ext>
                  </a:extLst>
                </a:gridCol>
              </a:tblGrid>
              <a:tr h="4232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Before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After PlanIt-MUJ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Improvement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6581946"/>
                  </a:ext>
                </a:extLst>
              </a:tr>
              <a:tr h="740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Event discovery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15–20 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1–2 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90% faster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1374444"/>
                  </a:ext>
                </a:extLst>
              </a:tr>
              <a:tr h="740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Registration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Manual (Slow)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Instant digital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Fully automated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0771"/>
                  </a:ext>
                </a:extLst>
              </a:tr>
              <a:tr h="740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Venue availability checking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Through admin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Visible to students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100% transparency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699497"/>
                  </a:ext>
                </a:extLst>
              </a:tr>
              <a:tr h="740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Paper/Excel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Supabase cloud 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Secure + scalable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8624677"/>
                  </a:ext>
                </a:extLst>
              </a:tr>
              <a:tr h="4232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User login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available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Secure Auth login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Added feature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0151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8FB1A0F-CF33-2E23-ED37-3B9521CA0B39}"/>
              </a:ext>
            </a:extLst>
          </p:cNvPr>
          <p:cNvSpPr txBox="1"/>
          <p:nvPr/>
        </p:nvSpPr>
        <p:spPr>
          <a:xfrm>
            <a:off x="3731491" y="229639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Table 1: System Performance Results</a:t>
            </a:r>
          </a:p>
        </p:txBody>
      </p:sp>
    </p:spTree>
    <p:extLst>
      <p:ext uri="{BB962C8B-B14F-4D97-AF65-F5344CB8AC3E}">
        <p14:creationId xmlns:p14="http://schemas.microsoft.com/office/powerpoint/2010/main" val="3645671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FCAC5D2-E03A-E264-8AE7-A01992044B3D}"/>
              </a:ext>
            </a:extLst>
          </p:cNvPr>
          <p:cNvSpPr txBox="1"/>
          <p:nvPr/>
        </p:nvSpPr>
        <p:spPr>
          <a:xfrm>
            <a:off x="3592945" y="14322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Table 2: User Engagement Results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0FD914-4651-84C6-21F1-4806081B6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659390"/>
              </p:ext>
            </p:extLst>
          </p:nvPr>
        </p:nvGraphicFramePr>
        <p:xfrm>
          <a:off x="1715294" y="659592"/>
          <a:ext cx="8564781" cy="2471534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854927">
                  <a:extLst>
                    <a:ext uri="{9D8B030D-6E8A-4147-A177-3AD203B41FA5}">
                      <a16:colId xmlns:a16="http://schemas.microsoft.com/office/drawing/2014/main" val="1880611643"/>
                    </a:ext>
                  </a:extLst>
                </a:gridCol>
                <a:gridCol w="2854927">
                  <a:extLst>
                    <a:ext uri="{9D8B030D-6E8A-4147-A177-3AD203B41FA5}">
                      <a16:colId xmlns:a16="http://schemas.microsoft.com/office/drawing/2014/main" val="3164464377"/>
                    </a:ext>
                  </a:extLst>
                </a:gridCol>
                <a:gridCol w="2854927">
                  <a:extLst>
                    <a:ext uri="{9D8B030D-6E8A-4147-A177-3AD203B41FA5}">
                      <a16:colId xmlns:a16="http://schemas.microsoft.com/office/drawing/2014/main" val="2910915351"/>
                    </a:ext>
                  </a:extLst>
                </a:gridCol>
              </a:tblGrid>
              <a:tr h="3089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8737921"/>
                  </a:ext>
                </a:extLst>
              </a:tr>
              <a:tr h="540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Student 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Implemented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Students can track registrations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1192188"/>
                  </a:ext>
                </a:extLst>
              </a:tr>
              <a:tr h="540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Event Listings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Live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All events displayed dynamically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043591"/>
                  </a:ext>
                </a:extLst>
              </a:tr>
              <a:tr h="540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Venue Details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Implemented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Students view venue capacity &amp; images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9548187"/>
                  </a:ext>
                </a:extLst>
              </a:tr>
              <a:tr h="540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Leaderboard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Implemented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Points auto-fetched from DB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668125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C133D6A-3B91-204B-57A9-9261341C1A66}"/>
              </a:ext>
            </a:extLst>
          </p:cNvPr>
          <p:cNvSpPr txBox="1"/>
          <p:nvPr/>
        </p:nvSpPr>
        <p:spPr>
          <a:xfrm>
            <a:off x="3685309" y="32781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Table 3: Database Validation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998464A-D618-CF7F-3AC7-B2F0B4A8BB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834250"/>
              </p:ext>
            </p:extLst>
          </p:nvPr>
        </p:nvGraphicFramePr>
        <p:xfrm>
          <a:off x="1715294" y="3794530"/>
          <a:ext cx="8564781" cy="2292232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854927">
                  <a:extLst>
                    <a:ext uri="{9D8B030D-6E8A-4147-A177-3AD203B41FA5}">
                      <a16:colId xmlns:a16="http://schemas.microsoft.com/office/drawing/2014/main" val="845916411"/>
                    </a:ext>
                  </a:extLst>
                </a:gridCol>
                <a:gridCol w="2854927">
                  <a:extLst>
                    <a:ext uri="{9D8B030D-6E8A-4147-A177-3AD203B41FA5}">
                      <a16:colId xmlns:a16="http://schemas.microsoft.com/office/drawing/2014/main" val="1642882154"/>
                    </a:ext>
                  </a:extLst>
                </a:gridCol>
                <a:gridCol w="2854927">
                  <a:extLst>
                    <a:ext uri="{9D8B030D-6E8A-4147-A177-3AD203B41FA5}">
                      <a16:colId xmlns:a16="http://schemas.microsoft.com/office/drawing/2014/main" val="1511544106"/>
                    </a:ext>
                  </a:extLst>
                </a:gridCol>
              </a:tblGrid>
              <a:tr h="482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Records (Sample)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3936102"/>
                  </a:ext>
                </a:extLst>
              </a:tr>
              <a:tr h="844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Students added successfully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✔ Working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071240"/>
                  </a:ext>
                </a:extLst>
              </a:tr>
              <a:tr h="482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registrations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New records created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✔ Working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442036"/>
                  </a:ext>
                </a:extLst>
              </a:tr>
              <a:tr h="482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venues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Pre-loaded venue info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✔ Working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7642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4516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9452-3000-DF4A-F633-2C06CB0E4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084D1-BF8A-599C-4DEE-5FD15C78E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dirty="0"/>
              <a:t>DEPLOYED WEBSITENLINK BELOW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https://plannit-muj-yashika.vercel.app/</a:t>
            </a:r>
          </a:p>
        </p:txBody>
      </p:sp>
    </p:spTree>
    <p:extLst>
      <p:ext uri="{BB962C8B-B14F-4D97-AF65-F5344CB8AC3E}">
        <p14:creationId xmlns:p14="http://schemas.microsoft.com/office/powerpoint/2010/main" val="2154956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DD527D-D04E-BAE8-662F-86FC2C871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855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46D542-E875-74FA-4F09-37CB97D03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877"/>
            <a:ext cx="12192000" cy="6180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980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AB20D5-4ED8-005F-1686-ECDB796C7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9133"/>
            <a:ext cx="12192000" cy="627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9323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16BC28-1F85-BED5-8169-97A8EDFC8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028"/>
            <a:ext cx="12192000" cy="5029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276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166F13-683F-8B8F-3D93-F5867A551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6492"/>
            <a:ext cx="12192000" cy="622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9782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88C38-4C0A-7C78-2FF6-39EB62252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1.</a:t>
            </a:r>
            <a:r>
              <a:rPr lang="en-IN" dirty="0"/>
              <a:t> Mane, P. &amp; Patil, R. (2021). </a:t>
            </a:r>
            <a:r>
              <a:rPr lang="en-IN" i="1" dirty="0"/>
              <a:t>Event Management System Using Web Technologies.</a:t>
            </a:r>
            <a:r>
              <a:rPr lang="en-IN" dirty="0"/>
              <a:t> International Journal of Computer Applications.</a:t>
            </a:r>
            <a:br>
              <a:rPr lang="en-IN" dirty="0"/>
            </a:br>
            <a:r>
              <a:rPr lang="en-IN" b="1" dirty="0"/>
              <a:t>2.</a:t>
            </a:r>
            <a:r>
              <a:rPr lang="en-IN" dirty="0"/>
              <a:t> Sharma, A. &amp; Gupta, R. (2020). </a:t>
            </a:r>
            <a:r>
              <a:rPr lang="en-IN" i="1" dirty="0"/>
              <a:t>Online Campus Event Portal for Universities.</a:t>
            </a:r>
            <a:r>
              <a:rPr lang="en-IN" dirty="0"/>
              <a:t> International Journal of Engineering Research and Technology.</a:t>
            </a:r>
            <a:br>
              <a:rPr lang="en-IN" dirty="0"/>
            </a:br>
            <a:r>
              <a:rPr lang="en-IN" b="1" dirty="0"/>
              <a:t>3.</a:t>
            </a:r>
            <a:r>
              <a:rPr lang="en-IN" dirty="0"/>
              <a:t> </a:t>
            </a:r>
            <a:r>
              <a:rPr lang="en-IN" dirty="0" err="1"/>
              <a:t>Supabase</a:t>
            </a:r>
            <a:r>
              <a:rPr lang="en-IN" dirty="0"/>
              <a:t> Documentation. </a:t>
            </a:r>
            <a:r>
              <a:rPr lang="en-IN" i="1" dirty="0"/>
              <a:t>Authentication, Database &amp; Realtime Features.</a:t>
            </a:r>
            <a:r>
              <a:rPr lang="en-IN" dirty="0"/>
              <a:t> </a:t>
            </a:r>
            <a:r>
              <a:rPr lang="en-IN" dirty="0">
                <a:hlinkClick r:id="rId2"/>
              </a:rPr>
              <a:t>https://supabase.com/docs</a:t>
            </a:r>
            <a:br>
              <a:rPr lang="en-IN" dirty="0"/>
            </a:br>
            <a:r>
              <a:rPr lang="en-IN" b="1" dirty="0"/>
              <a:t>4.</a:t>
            </a:r>
            <a:r>
              <a:rPr lang="en-IN" dirty="0"/>
              <a:t> ReactJS Documentation. </a:t>
            </a:r>
            <a:r>
              <a:rPr lang="en-IN" i="1" dirty="0"/>
              <a:t>Building Interactive User Interfaces.</a:t>
            </a:r>
            <a:r>
              <a:rPr lang="en-IN" dirty="0"/>
              <a:t> </a:t>
            </a:r>
            <a:r>
              <a:rPr lang="en-IN" dirty="0">
                <a:hlinkClick r:id="rId3"/>
              </a:rPr>
              <a:t>https://react.dev</a:t>
            </a:r>
            <a:br>
              <a:rPr lang="en-IN" dirty="0"/>
            </a:br>
            <a:r>
              <a:rPr lang="en-IN" b="1" dirty="0"/>
              <a:t>5.</a:t>
            </a:r>
            <a:r>
              <a:rPr lang="en-IN" dirty="0"/>
              <a:t> </a:t>
            </a:r>
            <a:r>
              <a:rPr lang="en-IN" dirty="0" err="1"/>
              <a:t>Vercel</a:t>
            </a:r>
            <a:r>
              <a:rPr lang="en-IN" dirty="0"/>
              <a:t> Documentation. </a:t>
            </a:r>
            <a:r>
              <a:rPr lang="en-IN" i="1" dirty="0"/>
              <a:t>Frontend Deployment Platform.</a:t>
            </a:r>
            <a:r>
              <a:rPr lang="en-IN" dirty="0"/>
              <a:t> </a:t>
            </a:r>
            <a:r>
              <a:rPr lang="en-IN" dirty="0">
                <a:hlinkClick r:id="rId4"/>
              </a:rPr>
              <a:t>https://vercel.com/docs</a:t>
            </a:r>
            <a:br>
              <a:rPr lang="en-IN" dirty="0"/>
            </a:br>
            <a:r>
              <a:rPr lang="en-IN" b="1" dirty="0"/>
              <a:t>6.</a:t>
            </a:r>
            <a:r>
              <a:rPr lang="en-IN" dirty="0"/>
              <a:t> </a:t>
            </a:r>
            <a:r>
              <a:rPr lang="en-IN" dirty="0" err="1"/>
              <a:t>TailwindCSS</a:t>
            </a:r>
            <a:r>
              <a:rPr lang="en-IN" dirty="0"/>
              <a:t> Docs. </a:t>
            </a:r>
            <a:r>
              <a:rPr lang="en-IN" i="1" dirty="0"/>
              <a:t>Utility-first CSS Framework.</a:t>
            </a:r>
            <a:r>
              <a:rPr lang="en-IN" dirty="0"/>
              <a:t> </a:t>
            </a:r>
            <a:r>
              <a:rPr lang="en-IN" dirty="0">
                <a:hlinkClick r:id="rId5"/>
              </a:rPr>
              <a:t>https://tailwindcss.com/docs</a:t>
            </a:r>
            <a:br>
              <a:rPr lang="en-IN" dirty="0"/>
            </a:br>
            <a:r>
              <a:rPr lang="en-IN" b="1" dirty="0"/>
              <a:t>7.</a:t>
            </a:r>
            <a:r>
              <a:rPr lang="en-IN" dirty="0"/>
              <a:t> Manipal University Jaipur (MUJ). </a:t>
            </a:r>
            <a:r>
              <a:rPr lang="en-IN" i="1" dirty="0"/>
              <a:t>Campus Venue Information &amp; Event Guidelines.</a:t>
            </a:r>
            <a:br>
              <a:rPr lang="en-IN" dirty="0"/>
            </a:br>
            <a:r>
              <a:rPr lang="en-IN" b="1" dirty="0"/>
              <a:t>8.</a:t>
            </a:r>
            <a:r>
              <a:rPr lang="en-IN" dirty="0"/>
              <a:t> OpenAI ChatGPT. </a:t>
            </a:r>
            <a:r>
              <a:rPr lang="en-IN" i="1" dirty="0"/>
              <a:t>Assistance for development, debugging, and explanation during project creation.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4917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8467"/>
            <a:ext cx="5257800" cy="1325563"/>
          </a:xfrm>
        </p:spPr>
        <p:txBody>
          <a:bodyPr/>
          <a:lstStyle/>
          <a:p>
            <a:r>
              <a:rPr lang="en-IN" b="1" i="1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109</TotalTime>
  <Words>1098</Words>
  <Application>Microsoft Office PowerPoint</Application>
  <PresentationFormat>Widescreen</PresentationFormat>
  <Paragraphs>188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Century Gothic</vt:lpstr>
      <vt:lpstr>Wingdings</vt:lpstr>
      <vt:lpstr>Wingdings 3</vt:lpstr>
      <vt:lpstr>Ion Boardroom</vt:lpstr>
      <vt:lpstr>PLANiT-MUJ EVENT MANAGEMENT WEBSITE</vt:lpstr>
      <vt:lpstr>Outline</vt:lpstr>
      <vt:lpstr>Introduction</vt:lpstr>
      <vt:lpstr>Literature Review</vt:lpstr>
      <vt:lpstr>PowerPoint Presentation</vt:lpstr>
      <vt:lpstr>PowerPoint Presentation</vt:lpstr>
      <vt:lpstr>Problem Statement</vt:lpstr>
      <vt:lpstr>Proposed Solution</vt:lpstr>
      <vt:lpstr>Objectives</vt:lpstr>
      <vt:lpstr>Proposed Methodology</vt:lpstr>
      <vt:lpstr>Result </vt:lpstr>
      <vt:lpstr>PowerPoint Presentation</vt:lpstr>
      <vt:lpstr>Outcome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yashika nagdev</cp:lastModifiedBy>
  <cp:revision>9</cp:revision>
  <dcterms:created xsi:type="dcterms:W3CDTF">2025-09-29T05:03:41Z</dcterms:created>
  <dcterms:modified xsi:type="dcterms:W3CDTF">2026-02-15T12:45:17Z</dcterms:modified>
</cp:coreProperties>
</file>